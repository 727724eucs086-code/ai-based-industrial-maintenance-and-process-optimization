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A P" userId="52267dce0823300e" providerId="LiveId" clId="{46908DF2-5C0C-4294-8040-0119B1A6EF4C}"/>
    <pc:docChg chg="undo custSel modSld">
      <pc:chgData name="harshini A P" userId="52267dce0823300e" providerId="LiveId" clId="{46908DF2-5C0C-4294-8040-0119B1A6EF4C}" dt="2026-08-18T13:57:35.519" v="180" actId="113"/>
      <pc:docMkLst>
        <pc:docMk/>
      </pc:docMkLst>
      <pc:sldChg chg="modSp mod">
        <pc:chgData name="harshini A P" userId="52267dce0823300e" providerId="LiveId" clId="{46908DF2-5C0C-4294-8040-0119B1A6EF4C}" dt="2026-08-18T13:54:14.028" v="117" actId="20577"/>
        <pc:sldMkLst>
          <pc:docMk/>
          <pc:sldMk cId="379780621" sldId="257"/>
        </pc:sldMkLst>
        <pc:spChg chg="mod">
          <ac:chgData name="harshini A P" userId="52267dce0823300e" providerId="LiveId" clId="{46908DF2-5C0C-4294-8040-0119B1A6EF4C}" dt="2026-08-18T13:54:14.028" v="117" actId="20577"/>
          <ac:spMkLst>
            <pc:docMk/>
            <pc:sldMk cId="379780621" sldId="257"/>
            <ac:spMk id="2" creationId="{32FC3462-251A-4E71-9777-8CB2280BE957}"/>
          </ac:spMkLst>
        </pc:spChg>
        <pc:spChg chg="mod">
          <ac:chgData name="harshini A P" userId="52267dce0823300e" providerId="LiveId" clId="{46908DF2-5C0C-4294-8040-0119B1A6EF4C}" dt="2026-08-17T14:21:21.081" v="95" actId="1076"/>
          <ac:spMkLst>
            <pc:docMk/>
            <pc:sldMk cId="379780621" sldId="257"/>
            <ac:spMk id="3" creationId="{D8279B5B-486C-4D1E-AAA1-058286FB22A1}"/>
          </ac:spMkLst>
        </pc:spChg>
      </pc:sldChg>
      <pc:sldChg chg="modSp mod">
        <pc:chgData name="harshini A P" userId="52267dce0823300e" providerId="LiveId" clId="{46908DF2-5C0C-4294-8040-0119B1A6EF4C}" dt="2026-08-18T13:55:10.699" v="153" actId="20577"/>
        <pc:sldMkLst>
          <pc:docMk/>
          <pc:sldMk cId="3863576858" sldId="258"/>
        </pc:sldMkLst>
        <pc:spChg chg="mod">
          <ac:chgData name="harshini A P" userId="52267dce0823300e" providerId="LiveId" clId="{46908DF2-5C0C-4294-8040-0119B1A6EF4C}" dt="2026-08-18T13:55:10.699" v="153" actId="20577"/>
          <ac:spMkLst>
            <pc:docMk/>
            <pc:sldMk cId="3863576858" sldId="258"/>
            <ac:spMk id="4" creationId="{DEBF5EAE-148B-4D79-9634-618886198858}"/>
          </ac:spMkLst>
        </pc:spChg>
      </pc:sldChg>
      <pc:sldChg chg="addSp delSp modSp mod">
        <pc:chgData name="harshini A P" userId="52267dce0823300e" providerId="LiveId" clId="{46908DF2-5C0C-4294-8040-0119B1A6EF4C}" dt="2026-08-12T16:48:36.400" v="22" actId="14100"/>
        <pc:sldMkLst>
          <pc:docMk/>
          <pc:sldMk cId="1117077130" sldId="261"/>
        </pc:sldMkLst>
        <pc:spChg chg="mod">
          <ac:chgData name="harshini A P" userId="52267dce0823300e" providerId="LiveId" clId="{46908DF2-5C0C-4294-8040-0119B1A6EF4C}" dt="2026-08-12T16:48:14.659" v="19" actId="1076"/>
          <ac:spMkLst>
            <pc:docMk/>
            <pc:sldMk cId="1117077130" sldId="261"/>
            <ac:spMk id="2" creationId="{6C4E4519-91EA-4436-83DE-0E9287DEF7E4}"/>
          </ac:spMkLst>
        </pc:spChg>
        <pc:picChg chg="add mod">
          <ac:chgData name="harshini A P" userId="52267dce0823300e" providerId="LiveId" clId="{46908DF2-5C0C-4294-8040-0119B1A6EF4C}" dt="2026-08-12T16:48:36.400" v="22" actId="14100"/>
          <ac:picMkLst>
            <pc:docMk/>
            <pc:sldMk cId="1117077130" sldId="261"/>
            <ac:picMk id="4" creationId="{EACA1255-0A0F-4514-983C-AD6397A80CAE}"/>
          </ac:picMkLst>
        </pc:picChg>
        <pc:picChg chg="del">
          <ac:chgData name="harshini A P" userId="52267dce0823300e" providerId="LiveId" clId="{46908DF2-5C0C-4294-8040-0119B1A6EF4C}" dt="2026-08-12T16:47:20.161" v="9" actId="478"/>
          <ac:picMkLst>
            <pc:docMk/>
            <pc:sldMk cId="1117077130" sldId="261"/>
            <ac:picMk id="7" creationId="{0BE71700-08BF-4695-BFBB-2D068EF8626C}"/>
          </ac:picMkLst>
        </pc:picChg>
      </pc:sldChg>
      <pc:sldChg chg="modSp mod">
        <pc:chgData name="harshini A P" userId="52267dce0823300e" providerId="LiveId" clId="{46908DF2-5C0C-4294-8040-0119B1A6EF4C}" dt="2026-08-12T16:42:30.790" v="7" actId="1076"/>
        <pc:sldMkLst>
          <pc:docMk/>
          <pc:sldMk cId="1018072359" sldId="262"/>
        </pc:sldMkLst>
        <pc:spChg chg="mod">
          <ac:chgData name="harshini A P" userId="52267dce0823300e" providerId="LiveId" clId="{46908DF2-5C0C-4294-8040-0119B1A6EF4C}" dt="2026-08-12T16:42:30.790" v="7" actId="1076"/>
          <ac:spMkLst>
            <pc:docMk/>
            <pc:sldMk cId="1018072359" sldId="262"/>
            <ac:spMk id="3" creationId="{96C11C8E-1D78-461E-9E0E-713D58E96CFA}"/>
          </ac:spMkLst>
        </pc:spChg>
      </pc:sldChg>
      <pc:sldChg chg="modSp mod">
        <pc:chgData name="harshini A P" userId="52267dce0823300e" providerId="LiveId" clId="{46908DF2-5C0C-4294-8040-0119B1A6EF4C}" dt="2026-08-12T16:44:30.088" v="8" actId="20577"/>
        <pc:sldMkLst>
          <pc:docMk/>
          <pc:sldMk cId="2782908296" sldId="263"/>
        </pc:sldMkLst>
        <pc:spChg chg="mod">
          <ac:chgData name="harshini A P" userId="52267dce0823300e" providerId="LiveId" clId="{46908DF2-5C0C-4294-8040-0119B1A6EF4C}" dt="2026-08-12T16:44:30.088" v="8" actId="20577"/>
          <ac:spMkLst>
            <pc:docMk/>
            <pc:sldMk cId="2782908296" sldId="263"/>
            <ac:spMk id="6" creationId="{AFCD160D-B522-4603-8D3C-89795C8D6ADE}"/>
          </ac:spMkLst>
        </pc:spChg>
      </pc:sldChg>
      <pc:sldChg chg="modSp mod">
        <pc:chgData name="harshini A P" userId="52267dce0823300e" providerId="LiveId" clId="{46908DF2-5C0C-4294-8040-0119B1A6EF4C}" dt="2026-08-18T13:57:35.519" v="180" actId="113"/>
        <pc:sldMkLst>
          <pc:docMk/>
          <pc:sldMk cId="690092992" sldId="265"/>
        </pc:sldMkLst>
        <pc:spChg chg="mod">
          <ac:chgData name="harshini A P" userId="52267dce0823300e" providerId="LiveId" clId="{46908DF2-5C0C-4294-8040-0119B1A6EF4C}" dt="2026-08-18T13:57:21.972" v="166"/>
          <ac:spMkLst>
            <pc:docMk/>
            <pc:sldMk cId="690092992" sldId="265"/>
            <ac:spMk id="2" creationId="{B0BDD8F9-5AC5-4B04-8114-F2EC8348CCAF}"/>
          </ac:spMkLst>
        </pc:spChg>
        <pc:spChg chg="mod">
          <ac:chgData name="harshini A P" userId="52267dce0823300e" providerId="LiveId" clId="{46908DF2-5C0C-4294-8040-0119B1A6EF4C}" dt="2026-08-18T13:57:35.519" v="180" actId="113"/>
          <ac:spMkLst>
            <pc:docMk/>
            <pc:sldMk cId="690092992" sldId="265"/>
            <ac:spMk id="3" creationId="{850BF26B-CB60-495E-A30D-B664804A81C5}"/>
          </ac:spMkLst>
        </pc:spChg>
      </pc:sldChg>
      <pc:sldChg chg="modSp mod">
        <pc:chgData name="harshini A P" userId="52267dce0823300e" providerId="LiveId" clId="{46908DF2-5C0C-4294-8040-0119B1A6EF4C}" dt="2026-08-17T14:20:48.305" v="91" actId="20577"/>
        <pc:sldMkLst>
          <pc:docMk/>
          <pc:sldMk cId="457571866" sldId="268"/>
        </pc:sldMkLst>
        <pc:spChg chg="mod">
          <ac:chgData name="harshini A P" userId="52267dce0823300e" providerId="LiveId" clId="{46908DF2-5C0C-4294-8040-0119B1A6EF4C}" dt="2026-08-17T14:20:48.305" v="91" actId="20577"/>
          <ac:spMkLst>
            <pc:docMk/>
            <pc:sldMk cId="457571866" sldId="268"/>
            <ac:spMk id="3" creationId="{D02635BE-68AF-48BB-A0CF-711E135DC2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3462-251A-4E71-9777-8CB2280BE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0257" y="1788455"/>
            <a:ext cx="8361229" cy="2098226"/>
          </a:xfrm>
        </p:spPr>
        <p:txBody>
          <a:bodyPr/>
          <a:lstStyle/>
          <a:p>
            <a:r>
              <a:rPr lang="en-IN" sz="6000" b="1" dirty="0"/>
              <a:t>AI-Based Industrial Maintenance and Process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279B5B-486C-4D1E-AAA1-058286FB2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108437"/>
            <a:ext cx="6831673" cy="1086237"/>
          </a:xfrm>
        </p:spPr>
        <p:txBody>
          <a:bodyPr/>
          <a:lstStyle/>
          <a:p>
            <a:r>
              <a:rPr lang="en-US" dirty="0"/>
              <a:t>An AI-powered system for predicting machine failures and optimizing industrial maintenance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8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7A5A-F749-4673-8D7A-C73AEC12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8" y="0"/>
            <a:ext cx="9601200" cy="84461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BF5EAE-148B-4D79-9634-6188861988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2151" y="917912"/>
            <a:ext cx="922457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maintenance approaches often depend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maintenance schedules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 maintenance after machine failure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sensor data that are difficult to interpret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Unexpected machine downtime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maintenance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 losses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Equipment damage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identifying high-risk machines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an AI-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Industrial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system that analyzes machine sensor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parameters,predicts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failure probability, classifies machine risk, and provides actionable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86357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6DDF-6471-4A0E-84E3-2708EF47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714" y="17852"/>
            <a:ext cx="9601200" cy="633867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975009-9BCE-4A24-814C-CBA7CBD215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7104" y="633868"/>
            <a:ext cx="5836983" cy="603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machine failure before it occurs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probability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Categorize machines into: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ML and Deep Learning models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machine risk factors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maintenance recommendations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analyze prediction history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industrial dashboard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access using authentication </a:t>
            </a:r>
          </a:p>
        </p:txBody>
      </p:sp>
    </p:spTree>
    <p:extLst>
      <p:ext uri="{BB962C8B-B14F-4D97-AF65-F5344CB8AC3E}">
        <p14:creationId xmlns:p14="http://schemas.microsoft.com/office/powerpoint/2010/main" val="1797332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01625A-6DBA-464B-9CBE-5D2483678294}"/>
              </a:ext>
            </a:extLst>
          </p:cNvPr>
          <p:cNvSpPr txBox="1"/>
          <p:nvPr/>
        </p:nvSpPr>
        <p:spPr>
          <a:xfrm>
            <a:off x="478857" y="326716"/>
            <a:ext cx="60976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DFD88-0C38-4839-A128-32349606FC4D}"/>
              </a:ext>
            </a:extLst>
          </p:cNvPr>
          <p:cNvSpPr txBox="1"/>
          <p:nvPr/>
        </p:nvSpPr>
        <p:spPr>
          <a:xfrm>
            <a:off x="2076651" y="1198635"/>
            <a:ext cx="609760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AI4I 2020 Predictive Maintenance </a:t>
            </a:r>
            <a:r>
              <a:rPr lang="it-IT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sz="2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049FA-8037-476B-9EE6-3C46C6A20729}"/>
              </a:ext>
            </a:extLst>
          </p:cNvPr>
          <p:cNvSpPr txBox="1"/>
          <p:nvPr/>
        </p:nvSpPr>
        <p:spPr>
          <a:xfrm>
            <a:off x="1287378" y="2132111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</a:t>
            </a:r>
            <a:r>
              <a:rPr lang="en-IN" sz="2000" dirty="0"/>
              <a:t>Parameters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C8C2B6-C2AE-4009-A465-ADF5A35B3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46189"/>
              </p:ext>
            </p:extLst>
          </p:nvPr>
        </p:nvGraphicFramePr>
        <p:xfrm>
          <a:off x="1371600" y="2796540"/>
          <a:ext cx="6983128" cy="2560320"/>
        </p:xfrm>
        <a:graphic>
          <a:graphicData uri="http://schemas.openxmlformats.org/drawingml/2006/table">
            <a:tbl>
              <a:tblPr/>
              <a:tblGrid>
                <a:gridCol w="3491564">
                  <a:extLst>
                    <a:ext uri="{9D8B030D-6E8A-4147-A177-3AD203B41FA5}">
                      <a16:colId xmlns:a16="http://schemas.microsoft.com/office/drawing/2014/main" val="3549456690"/>
                    </a:ext>
                  </a:extLst>
                </a:gridCol>
                <a:gridCol w="3491564">
                  <a:extLst>
                    <a:ext uri="{9D8B030D-6E8A-4147-A177-3AD203B41FA5}">
                      <a16:colId xmlns:a16="http://schemas.microsoft.com/office/drawing/2014/main" val="1015907181"/>
                    </a:ext>
                  </a:extLst>
                </a:gridCol>
              </a:tblGrid>
              <a:tr h="27701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05404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314086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39012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56607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58253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726208"/>
                  </a:ext>
                </a:extLst>
              </a:tr>
              <a:tr h="27701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85984"/>
                  </a:ext>
                </a:extLst>
              </a:tr>
            </a:tbl>
          </a:graphicData>
        </a:graphic>
      </p:graphicFrame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349E1B4-7C3E-422A-820B-BA34B033C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438635"/>
              </p:ext>
            </p:extLst>
          </p:nvPr>
        </p:nvGraphicFramePr>
        <p:xfrm>
          <a:off x="1371600" y="2634699"/>
          <a:ext cx="8128000" cy="2770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2095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26093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44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Machine variant — L, M, 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70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Air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Ambient 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498710"/>
                  </a:ext>
                </a:extLst>
              </a:tr>
              <a:tr h="545648">
                <a:tc>
                  <a:txBody>
                    <a:bodyPr/>
                    <a:lstStyle/>
                    <a:p>
                      <a:r>
                        <a:rPr lang="en-IN"/>
                        <a:t>Process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Operating process 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1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Rotational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251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Mechanical load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65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Tool Wear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Tool usage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900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10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4519-91EA-4436-83DE-0E9287DE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590" y="-74597"/>
            <a:ext cx="9601200" cy="815741"/>
          </a:xfrm>
        </p:spPr>
        <p:txBody>
          <a:bodyPr/>
          <a:lstStyle/>
          <a:p>
            <a:r>
              <a:rPr lang="en-IN" dirty="0"/>
              <a:t>Proposed System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A1255-0A0F-4514-983C-AD6397A80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822" y="654518"/>
            <a:ext cx="6651058" cy="60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7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06E77-D74E-406F-BC17-F1383B9D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12" y="144379"/>
            <a:ext cx="9601200" cy="844617"/>
          </a:xfrm>
        </p:spPr>
        <p:txBody>
          <a:bodyPr/>
          <a:lstStyle/>
          <a:p>
            <a:r>
              <a:rPr lang="en-IN" dirty="0"/>
              <a:t>Machine Learning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11C8E-1D78-461E-9E0E-713D58E96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592" y="984183"/>
            <a:ext cx="10467475" cy="58738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Deep Learning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Multi-Layer Perceptron (MLP) using </a:t>
            </a:r>
            <a:r>
              <a:rPr lang="en-US" dirty="0" err="1"/>
              <a:t>PyTorch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F1-Score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ROC-AUC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7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8DD1-417D-4268-9EB5-8C0A45C0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40" y="58744"/>
            <a:ext cx="9601200" cy="642486"/>
          </a:xfrm>
        </p:spPr>
        <p:txBody>
          <a:bodyPr>
            <a:normAutofit fontScale="90000"/>
          </a:bodyPr>
          <a:lstStyle/>
          <a:p>
            <a:r>
              <a:rPr lang="en-IN" dirty="0"/>
              <a:t>Model Performance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3C5E49-4BF8-42EA-A7CA-14BCDB7C8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557360"/>
              </p:ext>
            </p:extLst>
          </p:nvPr>
        </p:nvGraphicFramePr>
        <p:xfrm>
          <a:off x="1544854" y="880711"/>
          <a:ext cx="8956308" cy="3643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8154">
                  <a:extLst>
                    <a:ext uri="{9D8B030D-6E8A-4147-A177-3AD203B41FA5}">
                      <a16:colId xmlns:a16="http://schemas.microsoft.com/office/drawing/2014/main" val="3486513799"/>
                    </a:ext>
                  </a:extLst>
                </a:gridCol>
                <a:gridCol w="4478154">
                  <a:extLst>
                    <a:ext uri="{9D8B030D-6E8A-4147-A177-3AD203B41FA5}">
                      <a16:colId xmlns:a16="http://schemas.microsoft.com/office/drawing/2014/main" val="1116229115"/>
                    </a:ext>
                  </a:extLst>
                </a:gridCol>
              </a:tblGrid>
              <a:tr h="607194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249352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98.5%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957246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83.3%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112711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64.3%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88717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r>
                        <a:rPr lang="en-IN" dirty="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71.0%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001674"/>
                  </a:ext>
                </a:extLst>
              </a:tr>
              <a:tr h="607194">
                <a:tc>
                  <a:txBody>
                    <a:bodyPr/>
                    <a:lstStyle/>
                    <a:p>
                      <a:r>
                        <a:rPr lang="en-IN"/>
                        <a:t>ROC-AUC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93.4%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5313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CD160D-B522-4603-8D3C-89795C8D6ADE}"/>
              </a:ext>
            </a:extLst>
          </p:cNvPr>
          <p:cNvSpPr txBox="1"/>
          <p:nvPr/>
        </p:nvSpPr>
        <p:spPr>
          <a:xfrm>
            <a:off x="2412331" y="4882838"/>
            <a:ext cx="7221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Result:</a:t>
            </a:r>
          </a:p>
          <a:p>
            <a:r>
              <a:rPr lang="en-US" b="1" dirty="0"/>
              <a:t>98.5% Accuracy</a:t>
            </a:r>
            <a:r>
              <a:rPr lang="en-US" dirty="0"/>
              <a:t> with </a:t>
            </a:r>
            <a:r>
              <a:rPr lang="en-US" b="1" dirty="0"/>
              <a:t>93.4% ROC-AUC</a:t>
            </a:r>
            <a:r>
              <a:rPr lang="en-US" dirty="0"/>
              <a:t>, providing effective machine failure prediction.</a:t>
            </a:r>
          </a:p>
        </p:txBody>
      </p:sp>
    </p:spTree>
    <p:extLst>
      <p:ext uri="{BB962C8B-B14F-4D97-AF65-F5344CB8AC3E}">
        <p14:creationId xmlns:p14="http://schemas.microsoft.com/office/powerpoint/2010/main" val="278290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D2BEF-77F0-49EF-9BE9-0CE5FFC6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96252"/>
            <a:ext cx="9601200" cy="738739"/>
          </a:xfrm>
        </p:spPr>
        <p:txBody>
          <a:bodyPr/>
          <a:lstStyle/>
          <a:p>
            <a:r>
              <a:rPr lang="en-IN" dirty="0"/>
              <a:t>Prediction &amp; Risk Assessment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33953-793B-4848-98BA-5599753F6BA5}"/>
              </a:ext>
            </a:extLst>
          </p:cNvPr>
          <p:cNvSpPr txBox="1"/>
          <p:nvPr/>
        </p:nvSpPr>
        <p:spPr>
          <a:xfrm>
            <a:off x="1564105" y="998621"/>
            <a:ext cx="609760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Sensor Inputs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Type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Temperature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Rotational Speed (RPM)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Wear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7A8D25-35D7-400C-8775-386DA70556E0}"/>
              </a:ext>
            </a:extLst>
          </p:cNvPr>
          <p:cNvSpPr txBox="1"/>
          <p:nvPr/>
        </p:nvSpPr>
        <p:spPr>
          <a:xfrm>
            <a:off x="1564105" y="328944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AI Prediction :Failure Probability (%)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1F736B-EC25-4BEC-94DC-46C84B3BA2DA}"/>
              </a:ext>
            </a:extLst>
          </p:cNvPr>
          <p:cNvSpPr txBox="1"/>
          <p:nvPr/>
        </p:nvSpPr>
        <p:spPr>
          <a:xfrm>
            <a:off x="1574801" y="382654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Risk Classification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B329FFCC-FE3E-4563-B4C1-68C9E6CE2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414115"/>
              </p:ext>
            </p:extLst>
          </p:nvPr>
        </p:nvGraphicFramePr>
        <p:xfrm>
          <a:off x="2032000" y="423992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971138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9686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Failure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Risk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49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0–30%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35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30–60%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18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60–80%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670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80–100%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6584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29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D8F9-5AC5-4B04-8114-F2EC8348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4" y="127534"/>
            <a:ext cx="9601200" cy="700238"/>
          </a:xfrm>
        </p:spPr>
        <p:txBody>
          <a:bodyPr/>
          <a:lstStyle/>
          <a:p>
            <a:r>
              <a:rPr lang="en-IN" dirty="0"/>
              <a:t>Process Optimization &amp;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BF26B-CB60-495E-A30D-B664804A8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476" y="1275346"/>
            <a:ext cx="9601200" cy="47115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IN" sz="2000" b="1" dirty="0"/>
              <a:t>Optimization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Probability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Risk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Variant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Risk by Machine Type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Machine Alerts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Prediction Analysis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individual AI predictions into actionable operational insights for maintenance planning.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09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2001-089D-46F1-9405-4F271CBA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716" y="108284"/>
            <a:ext cx="9601200" cy="786865"/>
          </a:xfrm>
        </p:spPr>
        <p:txBody>
          <a:bodyPr/>
          <a:lstStyle/>
          <a:p>
            <a:r>
              <a:rPr lang="en-IN" dirty="0"/>
              <a:t>System Features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9E14D-8299-45FC-A4B1-61C722E0A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895149"/>
            <a:ext cx="9601200" cy="58068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Evaluations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Machines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At-Risk Machines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Failure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Health Gauge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                                                             </a:t>
            </a:r>
            <a:r>
              <a:rPr lang="en-IN" b="1" dirty="0"/>
              <a:t>History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Intelligence Charts                            * </a:t>
            </a:r>
            <a:r>
              <a:rPr lang="en-IN" dirty="0"/>
              <a:t>Searchable Prediction Records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Alerts                                            *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/>
              <a:t>Prediction Audit History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Risk Analysis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C8F4785-0EB3-4545-AB2B-5544F7B12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193093"/>
              </p:ext>
            </p:extLst>
          </p:nvPr>
        </p:nvGraphicFramePr>
        <p:xfrm>
          <a:off x="1771316" y="3709535"/>
          <a:ext cx="8128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964700609"/>
                    </a:ext>
                  </a:extLst>
                </a:gridCol>
              </a:tblGrid>
              <a:tr h="379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Input → AI Prediction → Risk Level → Recommendation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119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926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7263-8403-497D-BCC6-2BFD4D3FF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590" y="146785"/>
            <a:ext cx="9601200" cy="661737"/>
          </a:xfrm>
        </p:spPr>
        <p:txBody>
          <a:bodyPr>
            <a:normAutofit fontScale="90000"/>
          </a:bodyPr>
          <a:lstStyle/>
          <a:p>
            <a:r>
              <a:rPr lang="en-IN" dirty="0"/>
              <a:t>Technology Stack &amp;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D2767-FB86-4178-BFC8-3963EC2C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532" y="1049153"/>
            <a:ext cx="10289407" cy="541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8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ABCF-6F1C-458F-B565-CC7D4533A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590" y="156410"/>
            <a:ext cx="9601200" cy="680987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635BE-68AF-48BB-A0CF-711E135DC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74282"/>
            <a:ext cx="9601200" cy="46931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AI-Based Industrial maintenance system for early failure detection, risk assessment, and intelligent maintenance decisions.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IoT Sensor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Machine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Maintenance Scheduling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Useful Life (RUL)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ERP/CMMS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Model Retraining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757186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{54493825-B397-43E2-9A21-ECAF37F485B5}TFc3084226-2d0c-440f-9f46-6b48c7a7f670e6ba4a85-fc4a2881d6b3</Template>
  <TotalTime>61</TotalTime>
  <Words>442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Franklin Gothic Book</vt:lpstr>
      <vt:lpstr>Times New Roman</vt:lpstr>
      <vt:lpstr>Crop</vt:lpstr>
      <vt:lpstr>AI-Based Industrial Maintenance and Process Optimization</vt:lpstr>
      <vt:lpstr>Problem Statement</vt:lpstr>
      <vt:lpstr>Project Objectives</vt:lpstr>
      <vt:lpstr>PowerPoint Presentation</vt:lpstr>
      <vt:lpstr>Proposed System </vt:lpstr>
      <vt:lpstr>Machine Learning Methodology</vt:lpstr>
      <vt:lpstr>Model Performance</vt:lpstr>
      <vt:lpstr>Prediction &amp; Risk Assessment</vt:lpstr>
      <vt:lpstr>Process Optimization &amp; Analytics</vt:lpstr>
      <vt:lpstr>System Features &amp; Dashboard</vt:lpstr>
      <vt:lpstr>Technology Stack &amp; Security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&amp; Process Intelligence</dc:title>
  <dc:creator>harshini A P</dc:creator>
  <cp:lastModifiedBy>harshini A P</cp:lastModifiedBy>
  <cp:revision>6</cp:revision>
  <dcterms:created xsi:type="dcterms:W3CDTF">2026-08-12T15:50:00Z</dcterms:created>
  <dcterms:modified xsi:type="dcterms:W3CDTF">2026-08-18T13:58:24Z</dcterms:modified>
</cp:coreProperties>
</file>